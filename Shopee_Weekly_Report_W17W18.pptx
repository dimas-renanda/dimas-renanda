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5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8A8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Weekly Report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 Performance  ·  W17 vs W18  · 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3200400" cy="45720"/>
          </a:xfrm>
          <a:prstGeom prst="rect">
            <a:avLst/>
          </a:prstGeom>
          <a:solidFill>
            <a:srgbClr val="C8A8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D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&amp; Strategic Recommendations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C8A88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C8A88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 Terjual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pcs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pcs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+14.3%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9080" y="105156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170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Omzet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9080" y="1536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25.87 Jt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1874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21214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28.29 Jt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69080" y="2542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105156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170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SKU Aktif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1536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SKU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1874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21214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SKU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80960" y="2542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SKU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8B5E3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4015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Week 18 menunjukkan pertumbuhan positif di semua metrik utama. Unit terjual naik 14.3% dan omzet naik 9.3% — tren yang perlu dipertahankan dengan strategi tepat.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W18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Ranking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Rogun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5453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unit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325880"/>
            <a:ext cx="6217920" cy="347472"/>
          </a:xfrm>
          <a:prstGeom prst="roundRect">
            <a:avLst>
              <a:gd name="adj" fmla="val 13158"/>
            </a:avLst>
          </a:prstGeom>
          <a:solidFill>
            <a:srgbClr val="8B5E3C"/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1325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14,308,580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" y="21671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756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Harvey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478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unit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2258568"/>
            <a:ext cx="1430122" cy="347472"/>
          </a:xfrm>
          <a:prstGeom prst="roundRect">
            <a:avLst>
              <a:gd name="adj" fmla="val 13158"/>
            </a:avLst>
          </a:prstGeom>
          <a:solidFill>
            <a:srgbClr val="C8A8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84802" y="2258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3,224,000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" y="30998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0083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Civera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4107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3191256"/>
            <a:ext cx="932688" cy="347472"/>
          </a:xfrm>
          <a:prstGeom prst="roundRect">
            <a:avLst>
              <a:gd name="adj" fmla="val 13158"/>
            </a:avLst>
          </a:prstGeom>
          <a:solidFill>
            <a:srgbClr val="C8A882"/>
          </a:solidFill>
          <a:ln/>
        </p:spPr>
      </p:sp>
      <p:sp>
        <p:nvSpPr>
          <p:cNvPr id="20" name="Text 18"/>
          <p:cNvSpPr/>
          <p:nvPr/>
        </p:nvSpPr>
        <p:spPr>
          <a:xfrm>
            <a:off x="4087368" y="31912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2,140,000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94106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343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4123944"/>
            <a:ext cx="808330" cy="347472"/>
          </a:xfrm>
          <a:prstGeom prst="roundRect">
            <a:avLst>
              <a:gd name="adj" fmla="val 13158"/>
            </a:avLst>
          </a:prstGeom>
          <a:solidFill>
            <a:srgbClr val="C8A882"/>
          </a:solidFill>
          <a:ln/>
        </p:spPr>
      </p:sp>
      <p:sp>
        <p:nvSpPr>
          <p:cNvPr id="25" name="Text 23"/>
          <p:cNvSpPr/>
          <p:nvPr/>
        </p:nvSpPr>
        <p:spPr>
          <a:xfrm>
            <a:off x="3963010" y="41239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1,888,000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" y="49651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873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5276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17520" y="5056632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C8A882"/>
          </a:solidFill>
          <a:ln/>
        </p:spPr>
      </p:sp>
      <p:sp>
        <p:nvSpPr>
          <p:cNvPr id="30" name="Text 28"/>
          <p:cNvSpPr/>
          <p:nvPr/>
        </p:nvSpPr>
        <p:spPr>
          <a:xfrm>
            <a:off x="3776472" y="50566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1,373,000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 vs W18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2743200" cy="45720"/>
          </a:xfrm>
          <a:prstGeom prst="rect">
            <a:avLst/>
          </a:prstGeom>
          <a:solidFill>
            <a:srgbClr val="C8A8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996696"/>
            <a:ext cx="5301049" cy="228600"/>
          </a:xfrm>
          <a:prstGeom prst="roundRect">
            <a:avLst>
              <a:gd name="adj" fmla="val 16000"/>
            </a:avLst>
          </a:prstGeom>
          <a:solidFill>
            <a:srgbClr val="D4B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2729" y="9966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W17: 33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280160"/>
            <a:ext cx="5943600" cy="228600"/>
          </a:xfrm>
          <a:prstGeom prst="roundRect">
            <a:avLst>
              <a:gd name="adj" fmla="val 16000"/>
            </a:avLst>
          </a:prstGeom>
          <a:solidFill>
            <a:srgbClr val="8B5E3C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280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W18: 37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0" y="9601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1837944"/>
            <a:ext cx="321276" cy="228600"/>
          </a:xfrm>
          <a:prstGeom prst="roundRect">
            <a:avLst>
              <a:gd name="adj" fmla="val 16000"/>
            </a:avLst>
          </a:prstGeom>
          <a:solidFill>
            <a:srgbClr val="D4B896"/>
          </a:solidFill>
          <a:ln/>
        </p:spPr>
      </p:sp>
      <p:sp>
        <p:nvSpPr>
          <p:cNvPr id="13" name="Text 11"/>
          <p:cNvSpPr/>
          <p:nvPr/>
        </p:nvSpPr>
        <p:spPr>
          <a:xfrm>
            <a:off x="2332956" y="18379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W17: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2121408"/>
            <a:ext cx="1767016" cy="228600"/>
          </a:xfrm>
          <a:prstGeom prst="roundRect">
            <a:avLst>
              <a:gd name="adj" fmla="val 16000"/>
            </a:avLst>
          </a:prstGeom>
          <a:solidFill>
            <a:srgbClr val="8B5E3C"/>
          </a:solidFill>
          <a:ln/>
        </p:spPr>
      </p:sp>
      <p:sp>
        <p:nvSpPr>
          <p:cNvPr id="15" name="Text 13"/>
          <p:cNvSpPr/>
          <p:nvPr/>
        </p:nvSpPr>
        <p:spPr>
          <a:xfrm>
            <a:off x="3778696" y="21214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W18: 11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180136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64261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2679192"/>
            <a:ext cx="2088292" cy="228600"/>
          </a:xfrm>
          <a:prstGeom prst="roundRect">
            <a:avLst>
              <a:gd name="adj" fmla="val 16000"/>
            </a:avLst>
          </a:prstGeom>
          <a:solidFill>
            <a:srgbClr val="D4B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099972" y="2679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W17: 13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2962656"/>
            <a:ext cx="642551" cy="228600"/>
          </a:xfrm>
          <a:prstGeom prst="roundRect">
            <a:avLst>
              <a:gd name="adj" fmla="val 16000"/>
            </a:avLst>
          </a:prstGeom>
          <a:solidFill>
            <a:srgbClr val="8B5E3C"/>
          </a:solidFill>
          <a:ln/>
        </p:spPr>
      </p:sp>
      <p:sp>
        <p:nvSpPr>
          <p:cNvPr id="21" name="Text 19"/>
          <p:cNvSpPr/>
          <p:nvPr/>
        </p:nvSpPr>
        <p:spPr>
          <a:xfrm>
            <a:off x="2654231" y="29626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W18: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75520" y="26426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8386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20240" y="3520440"/>
            <a:ext cx="1124465" cy="228600"/>
          </a:xfrm>
          <a:prstGeom prst="roundRect">
            <a:avLst>
              <a:gd name="adj" fmla="val 16000"/>
            </a:avLst>
          </a:prstGeom>
          <a:solidFill>
            <a:srgbClr val="D4B896"/>
          </a:solidFill>
          <a:ln/>
        </p:spPr>
      </p:sp>
      <p:sp>
        <p:nvSpPr>
          <p:cNvPr id="25" name="Text 23"/>
          <p:cNvSpPr/>
          <p:nvPr/>
        </p:nvSpPr>
        <p:spPr>
          <a:xfrm>
            <a:off x="3136145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W17: 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20240" y="3803904"/>
            <a:ext cx="1285103" cy="228600"/>
          </a:xfrm>
          <a:prstGeom prst="roundRect">
            <a:avLst>
              <a:gd name="adj" fmla="val 16000"/>
            </a:avLst>
          </a:prstGeom>
          <a:solidFill>
            <a:srgbClr val="8B5E3C"/>
          </a:solidFill>
          <a:ln/>
        </p:spPr>
      </p:sp>
      <p:sp>
        <p:nvSpPr>
          <p:cNvPr id="27" name="Text 25"/>
          <p:cNvSpPr/>
          <p:nvPr/>
        </p:nvSpPr>
        <p:spPr>
          <a:xfrm>
            <a:off x="3296783" y="38039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W18: 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875520" y="348386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32511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20240" y="4361688"/>
            <a:ext cx="1285103" cy="228600"/>
          </a:xfrm>
          <a:prstGeom prst="roundRect">
            <a:avLst>
              <a:gd name="adj" fmla="val 16000"/>
            </a:avLst>
          </a:prstGeom>
          <a:solidFill>
            <a:srgbClr val="D4B896"/>
          </a:solidFill>
          <a:ln/>
        </p:spPr>
      </p:sp>
      <p:sp>
        <p:nvSpPr>
          <p:cNvPr id="31" name="Text 29"/>
          <p:cNvSpPr/>
          <p:nvPr/>
        </p:nvSpPr>
        <p:spPr>
          <a:xfrm>
            <a:off x="3296783" y="4361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W17: 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20240" y="4645152"/>
            <a:ext cx="1124465" cy="228600"/>
          </a:xfrm>
          <a:prstGeom prst="roundRect">
            <a:avLst>
              <a:gd name="adj" fmla="val 16000"/>
            </a:avLst>
          </a:prstGeom>
          <a:solidFill>
            <a:srgbClr val="8B5E3C"/>
          </a:solidFill>
          <a:ln/>
        </p:spPr>
      </p:sp>
      <p:sp>
        <p:nvSpPr>
          <p:cNvPr id="33" name="Text 31"/>
          <p:cNvSpPr/>
          <p:nvPr/>
        </p:nvSpPr>
        <p:spPr>
          <a:xfrm>
            <a:off x="3136145" y="4645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W18: 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75520" y="432511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5166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Halny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920240" y="5202936"/>
            <a:ext cx="642551" cy="228600"/>
          </a:xfrm>
          <a:prstGeom prst="roundRect">
            <a:avLst>
              <a:gd name="adj" fmla="val 16000"/>
            </a:avLst>
          </a:prstGeom>
          <a:solidFill>
            <a:srgbClr val="D4B896"/>
          </a:solidFill>
          <a:ln/>
        </p:spPr>
      </p:sp>
      <p:sp>
        <p:nvSpPr>
          <p:cNvPr id="37" name="Text 35"/>
          <p:cNvSpPr/>
          <p:nvPr/>
        </p:nvSpPr>
        <p:spPr>
          <a:xfrm>
            <a:off x="2654231" y="520293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W17: 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20240" y="5486400"/>
            <a:ext cx="321276" cy="228600"/>
          </a:xfrm>
          <a:prstGeom prst="roundRect">
            <a:avLst>
              <a:gd name="adj" fmla="val 16000"/>
            </a:avLst>
          </a:prstGeom>
          <a:solidFill>
            <a:srgbClr val="8B5E3C"/>
          </a:solidFill>
          <a:ln/>
        </p:spPr>
      </p:sp>
      <p:sp>
        <p:nvSpPr>
          <p:cNvPr id="39" name="Text 37"/>
          <p:cNvSpPr/>
          <p:nvPr/>
        </p:nvSpPr>
        <p:spPr>
          <a:xfrm>
            <a:off x="2332956" y="5486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W18: 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75520" y="51663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828800" cy="45720"/>
          </a:xfrm>
          <a:prstGeom prst="rect">
            <a:avLst/>
          </a:prstGeom>
          <a:solidFill>
            <a:srgbClr val="C8A88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F8F0"/>
          </a:solidFill>
          <a:ln w="19050">
            <a:solidFill>
              <a:srgbClr val="FFB7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Rogun Over-Concentration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2704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 total omzet bergantung pada 1 produk. Risiko tinggi jika ada gangguan stok atau kompetitor masuk.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96012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0FFF4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097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Harvey Breakout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52704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450% dari 2 → 11 unit dalam 1 minggu. Perlu investigasi penyebab &amp; maksimalkan momentum segera.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F0F0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Cirata Sharp Decline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1304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 dari 13 → 4 unit (-69%). Perlu audit: harga, foto produk, review, atau aktivitas kompetitor.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24612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0F4FF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383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5 Produk Baru Debut W18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81304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Alize, Holt, Amara, Zoo Keychain, dan Ivo masuk di W18. Pantau performa untuk keputusan alokasi iklan.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3200400" cy="45720"/>
          </a:xfrm>
          <a:prstGeom prst="rect">
            <a:avLst/>
          </a:prstGeom>
          <a:solidFill>
            <a:srgbClr val="C8A88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8B5E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978408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 Stok Rogun &amp; Genjot Harvey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130759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Rogun = cash cow, stok harus selalu aman. Harvey momentum naik — tambah budget iklan sekarang.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8B5E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476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1965960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&amp; Selamatkan Cirata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29514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harga, foto, review, dan kompetitor. Coba flash sale atau bundle dengan Rogun untuk recovery.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8B5E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352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295351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Portofolio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328269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Lowell, Walter, Civera lebih aktif. Buat bundle paket untuk naikkan average order value.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8B5E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227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98448" y="3941064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Optimalkan Budget Iklan Shopee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42702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ROAS ke produk konversi tinggi. Uji ad creative baru untuk Harvey &amp; Rogun di W19.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9103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8B5E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10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98448" y="4928616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Scale Produk Baru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525780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Alize, Holt, Amara di W19. Jika traksi bagus, alokasikan iklan lebih awal sebelum kompetitor masuk.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8B5E3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5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8A8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 ·  Shopee  ·  W17–W18  · 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3246120"/>
            <a:ext cx="3200400" cy="45720"/>
          </a:xfrm>
          <a:prstGeom prst="rect">
            <a:avLst/>
          </a:prstGeom>
          <a:solidFill>
            <a:srgbClr val="C8A8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D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Analytics Team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C8A88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2026-05-06T13:57:14Z</dcterms:created>
  <dcterms:modified xsi:type="dcterms:W3CDTF">2026-05-06T13:57:14Z</dcterms:modified>
</cp:coreProperties>
</file>